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Segoe UI"/>
              </a:defRPr>
            </a:pPr>
            <a:r>
              <a:t>AI-POWERED QA TEST SUITE STUDIO</a:t>
            </a:r>
          </a:p>
          <a:p>
            <a:pPr>
              <a:spcBef>
                <a:spcPts val="800"/>
              </a:spcBef>
              <a:defRPr sz="1800">
                <a:solidFill>
                  <a:srgbClr val="02C39A"/>
                </a:solidFill>
                <a:latin typeface="Segoe UI"/>
              </a:defRPr>
            </a:pPr>
            <a:r>
              <a:t>Accelerating Agile Testing &amp; Spec Generation from User Stories</a:t>
            </a:r>
          </a:p>
          <a:p>
            <a:pPr>
              <a:spcBef>
                <a:spcPts val="15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Enterprise-Grade QA Automation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The Business Context: Requirements Lifecycle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From Product Ideas to Executable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38404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B254B"/>
                </a:solidFill>
                <a:latin typeface="Segoe UI"/>
              </a:defRPr>
            </a:pPr>
            <a:r>
              <a:t>Scenario: A Product Team Introduces a New Requirement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Consider a standard requirement introduced in an e-commerce platform's active sprint: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"As a shopper, I want to add products to my cart so that I can purchase them later."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This user story forms the bridge between customer need and software implementation.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However, before developers can finish coding or QA can begin validation, this story must be translated into explicit test instructions.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This translation step represents a significant resource commitment in every software development lifecycle.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The Traditional QA Workflow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Key Execution Steps for QA Engineers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1. Analyze Requirement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Reviewing the user story to extract hidden assumptions, functional expectations, user roles, and business goals.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2. Identify Scenarios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Mapping out structural logic, identifying user flows, and determining how the system behaves under different circumstances.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3. Draft Test Cases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Manually drafting both positive (happy path) and negative (error handling) cases to document test steps and expected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4. Validate Coverage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Cross-checking that all acceptance criteria are hit, ensuring no security gaps or edge cases are omitted before shipping.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The Sprint Bottleneck: Scale &amp; Human Bias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The Limitations of Manual QA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3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D9383A"/>
                </a:solidFill>
                <a:latin typeface="Segoe UI"/>
              </a:defRPr>
            </a:pPr>
            <a:r>
              <a:t>The Sprint Challenge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"When hundreds of user stories are created during Agile sprints, manual test design becomes time-consuming and prone to inconsistencies."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As sprint velocity increases, QA teams face an unsustainable workload.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Testing documentation becomes the primary development bottleneck, delaying releases.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B254B"/>
                </a:solidFill>
                <a:latin typeface="Segoe UI"/>
              </a:defRPr>
            </a:pPr>
            <a:r>
              <a:t>Operational Impacts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Coverage Inconsistencies: Individual variations in tester experience lead to highly subjective test scripts.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Missed Edge Cases: Time pressure forces focus only on the happy paths, leaving boundary inputs untested.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Syntax Redundancy: Writing Cucumber / Gherkin specs manually is prone to grammar mismatches and routing errors.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The Solution: AI-Powered QA Studio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Automating Document Design and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38404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2E7D32"/>
                </a:solidFill>
                <a:latin typeface="Segoe UI"/>
              </a:defRPr>
            </a:pPr>
            <a:r>
              <a:t>Our Value Proposition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"Our AI-powered solution automatically generates test scenarios from user stories, reducing effort and improving testing efficiency."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Instant Generation: Converts raw text stories into complete QA test suites in seconds.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Multi-Perspective Test Engineering: Produces positive, negative, and edge test scenarios simultaneously.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BDD Standard Synchronization: Automatically creates syntactically valid Gherkin templates ready for export.</a:t>
            </a:r>
          </a:p>
          <a:p>
            <a:pPr algn="l">
              <a:spcAft>
                <a:spcPts val="400"/>
              </a:spcAft>
              <a:defRPr sz="1300">
                <a:solidFill>
                  <a:srgbClr val="1E2022"/>
                </a:solidFill>
                <a:latin typeface="Segoe UI"/>
              </a:defRPr>
            </a:pPr>
            <a:r>
              <a:t>•  Zero-Defect Coverage: Systematically identifies parameters and runs boundary checks without human bias.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Core Features &amp; Capabilities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Comprehensive QA Artifact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384048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1828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Positive Test Cases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Happy-path validation scenarios ensuring core functional flows work as expected under normal circumstances.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754880" cy="1828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Negative Test Cases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Validates input verification rules, data formatting requirements, and error feedback responses.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754880" cy="1828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Edge &amp; Boundary Suite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Validates extreme parameters, zero states, character limits, rate capacities, and boundary constraints.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4754880" cy="1828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Gherkin Spec Generation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Automatically structures tests as standard Given/When/Then steps and packages them into downloadable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System Architecture Overview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Data Flow and Component Interactions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1920240" cy="1280160"/>
          </a:xfrm>
          <a:prstGeom prst="roundRect">
            <a:avLst/>
          </a:prstGeom>
          <a:solidFill>
            <a:srgbClr val="1B2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737360" cy="10972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Streamlit UI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User Story input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Tabbed outputs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Download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926080"/>
            <a:ext cx="457200" cy="548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2C39A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560320"/>
            <a:ext cx="1920240" cy="1280160"/>
          </a:xfrm>
          <a:prstGeom prst="roundRect">
            <a:avLst/>
          </a:prstGeom>
          <a:solidFill>
            <a:srgbClr val="1B2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1737360" cy="10972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FastAPI Backend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REST API layer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/generate router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/download endpoint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926080"/>
            <a:ext cx="457200" cy="548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2C39A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560320"/>
            <a:ext cx="1920240" cy="1280160"/>
          </a:xfrm>
          <a:prstGeom prst="roundRect">
            <a:avLst/>
          </a:prstGeom>
          <a:solidFill>
            <a:srgbClr val="1B2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651760"/>
            <a:ext cx="1737360" cy="10972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Groq Service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LLaMA 3.3-70B API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System prompting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JSON object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926080"/>
            <a:ext cx="640080" cy="548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2C39A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1920240" cy="1280160"/>
          </a:xfrm>
          <a:prstGeom prst="roundRect">
            <a:avLst/>
          </a:prstGeom>
          <a:solidFill>
            <a:srgbClr val="1B2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651760"/>
            <a:ext cx="1737360" cy="10972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Output Compiler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Schema validation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Pydantic validator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Gherkin file 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2926080"/>
            <a:ext cx="457200" cy="548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2C39A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24160" y="2560320"/>
            <a:ext cx="2926080" cy="1280160"/>
          </a:xfrm>
          <a:prstGeom prst="roundRect">
            <a:avLst/>
          </a:prstGeom>
          <a:solidFill>
            <a:srgbClr val="1B2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2651760"/>
            <a:ext cx="2743200" cy="10972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UI Display &amp; Export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Copy-to-Clipboard buttons</a:t>
            </a:r>
          </a:p>
          <a:p>
            <a:pPr algn="ctr">
              <a:spcAft>
                <a:spcPts val="400"/>
              </a:spcAft>
              <a:defRPr sz="1000">
                <a:solidFill>
                  <a:srgbClr val="FFFFFF"/>
                </a:solidFill>
                <a:latin typeface="Segoe UI"/>
              </a:defRPr>
            </a:pPr>
            <a:r>
              <a:t>.feature file downlinks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97680"/>
            <a:ext cx="10728655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362895" cy="14630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B254B"/>
                </a:solidFill>
                <a:latin typeface="Segoe UI"/>
              </a:defRPr>
            </a:pPr>
            <a:r>
              <a:t>System Flow Integration: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Inputs are collected on the Streamlit web layout and dispatched via HTTP POST to the FastAPI backend.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The backend routes payloads to the Groq client which queries LLaMA 3.3-70B model assets.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A Pydantic parser validates response keys and handles Gherkin feature file compilation.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Outputs populate frontend tabs dynamically, and unlock immediate clipboard and downloading options.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Streamlit Frontend User Interface Design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Creating a Sleek, Modern User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UI Components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Interactive input text box: Paste raw requirement user stories.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Generate action button: Triggers background processing spinners.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Result Tabbed View: Displays test cases, acceptance criteria, and Gherkin scripts separately.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Clipboard utility: HTML-embedded buttons to instantly copy script logs.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Download trigger: Streams compiled Gherkin files in `.feature` format directly to client disks.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User Experience Highlights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Custom CSS overrides: Off-white canvas, clean dark navy headers, and mint green branding accents.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Dynamic Session State: Preserves output cache during layout refreshes.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Responsive Grid Design: Side-by-side setup for quick workflow loops.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Loading Indicators: Smooth spinners communicate processing status during API runs.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FastAPI Backend Implementation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High-Performance REST API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API Endpoints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`POST /generate`: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Validates story input data structure.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Connects to Groq LLaMA 3.3 server.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Formats scenarios into Gherkin templates.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Saves output features locally to disk.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Returns full JSON data structure to client.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`GET /download`: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Employs FastAPI `FileResponse` to stream the feature file directly to the client.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`GET /`: Healthy check endpoint.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Technical Capabilities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Asynchronous Routing: Non-blocking executions handle concurrent client requests efficiently.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CORS Integration: CORS Middleware configuration allows cross-origin communication between UI and Backend.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Data Schemas: Pydantic schemas validate input and output JSON parameters.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Exception Routing: Standard HTTP exceptions return clean API error code details.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LLM Service &amp; Prompt Engineering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Orchestrating LLaMA 3.3-70B via Groq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Groq Service Configs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Model Assets: LLaMA 3.3 70B Versatile model provides balance of logic and token processing speed.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Temperature settings (0.15): Limits creative output, producing consistent QA test cases.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JSON object mode: Configures LLM calls with `response_format={'type': 'json_object'}`, guaranteeing return data is syntax-correct JSON.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Prompt Engineering Design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System Persona: Set as a 'Principal QA Automation Architect'.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Structured Schema Injection: Embeds the desired Pydantic JSON schema directly into system guidelines.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Strict Exclusions: Instructs the model to return raw JSON ONLY, omitting markdown tags (e.g., ```json), prefaces, and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Testing &amp; Backend API Validation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Maintaining Stability and Software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API Testing Framework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Built using Pytest and FastAPI's `TestClient` class.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Ensures endpoints conform to specifications during upgrades.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Runs tests using standard shell command: `python -m pytest test_main.py -v`.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Ensures backend service runs reliably with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Key Test Scenarios Checked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`test_root`: Validates the health check endpoint `/` returns a HTTP 200 code and active status.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`test_generate_empty_story`: Asserts that sending empty strings to `/generate` returns a 400 Bad Request error.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LLM Integrations Validation: Asserts that successful mock payloads generate valid JSON with required keys: `feature_name`, `positive_test_cases`, etc.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Case Study: Shopping Cart User Story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Walkthrough — Requirement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38404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User Story Input Details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Requirement: "As a shopper, I want to add products to my cart so that I can purchase them later."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Agile Story Components: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User Role (Who): "Shopper" — Represents a standard consumer navigating the catalog pages.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Functional Action (What): "Add products to my cart" — Interactive button actions from catalogs or details.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Business Value (Why): "Purchase them later" — Preserving persistent catalog states during sessions.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Traditional QA Analysis Challenges:</a:t>
            </a:r>
          </a:p>
          <a:p>
            <a:pPr algn="l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Must think about: guest sessions, stock limitations, button spamming, maximum limits, expired session states, and connection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Case Study: Generated QA Output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Walkthrough — Automated Test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Generated Test Scenarios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Positive Test Cases: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Add a single in-stock item. Verify cart badge increments.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Add multiple different items. Verify details display correctly.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Negative Test Cases: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Add an out-of-stock item. Verify error validation banner.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Attempt to add negative quantity values.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•  Edge Test Cases: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Add item quantity exceeding maximum order capacity.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    - Add item, close browser, and check session cache recovery.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B254B"/>
                </a:solidFill>
                <a:latin typeface="Segoe UI"/>
              </a:defRPr>
            </a:pPr>
            <a:r>
              <a:t>Gherkin Cucumber Scenario Spec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Feature: Shopping Cart Management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Scenario: Successfully adding an item to the shopping cart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Given the shopper is logged in and viewing a product page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And the product is in-stock with a quantity of 1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When the shopper clicks the "Add to Cart" button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Then the product should be added to the shopper's cart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And the cart badge should increment by 1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Scenario: Adding an out-of-stock item to the cart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Given the shopper is logged in and viewing an out-of-stock product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When the shopper clicks the "Add to Cart" button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Then the cart badge should not increment</a:t>
            </a:r>
          </a:p>
          <a:p>
            <a:pPr algn="l">
              <a:spcAft>
                <a:spcPts val="400"/>
              </a:spcAft>
              <a:defRPr sz="1000">
                <a:solidFill>
                  <a:srgbClr val="1E2022"/>
                </a:solidFill>
                <a:latin typeface="Segoe UI"/>
              </a:defRPr>
            </a:pPr>
            <a:r>
              <a:t>    And a "Product is out of stock" error message should display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73152" cy="7315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54B"/>
                </a:solidFill>
                <a:latin typeface="Segoe UI"/>
              </a:defRPr>
            </a:pPr>
            <a:r>
              <a:t>Future Roadmap &amp; Technical Improvements</a:t>
            </a:r>
          </a:p>
          <a:p>
            <a:pPr>
              <a:spcBef>
                <a:spcPts val="300"/>
              </a:spcBef>
              <a:defRPr sz="1300">
                <a:solidFill>
                  <a:srgbClr val="6B7280"/>
                </a:solidFill>
                <a:latin typeface="Segoe UI"/>
              </a:defRPr>
            </a:pPr>
            <a:r>
              <a:t>Expanding Capabilities in Subsequent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1. Persistence Layer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Deploy a database (e.g., PostgreSQL or SQLite) to save historical user stories, query results, and compiled Gherkin files for easy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2. ALM Integrations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Connect endpoints directly to Agile Management platforms like Jira and Azure DevOps to automatically push generated test cases to tickets.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3. Execution Runner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Embed selenium or playwright engines in the backend to convert Given/When/Then scenarios into test stubs and run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011680"/>
            <a:ext cx="2286000" cy="374903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1B254B"/>
                </a:solidFill>
                <a:latin typeface="Segoe UI"/>
              </a:defRPr>
            </a:pPr>
            <a:r>
              <a:t>4. Multi-language</a:t>
            </a:r>
          </a:p>
          <a:p>
            <a:pPr algn="l">
              <a:spcAft>
                <a:spcPts val="400"/>
              </a:spcAft>
              <a:defRPr sz="1100">
                <a:solidFill>
                  <a:srgbClr val="1E2022"/>
                </a:solidFill>
                <a:latin typeface="Segoe UI"/>
              </a:defRPr>
            </a:pPr>
            <a:r>
              <a:t>Localize and support parsing requirements written in Spanish, French, German, and German syntax-native feature outputs.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Conclusion &amp; Key Takeaways</a:t>
            </a:r>
          </a:p>
          <a:p>
            <a:pPr>
              <a:spcBef>
                <a:spcPts val="400"/>
              </a:spcBef>
              <a:defRPr sz="1600">
                <a:solidFill>
                  <a:srgbClr val="02C39A"/>
                </a:solidFill>
                <a:latin typeface="Segoe UI"/>
              </a:defRPr>
            </a:pPr>
            <a:r>
              <a:t>QA Scenario Generation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2C39A"/>
                </a:solidFill>
                <a:latin typeface="Segoe UI"/>
              </a:defRPr>
            </a:pPr>
            <a:r>
              <a:t>Business Value &amp; Impact</a:t>
            </a:r>
          </a:p>
          <a:p>
            <a:pPr algn="l">
              <a:spcAft>
                <a:spcPts val="400"/>
              </a:spcAft>
              <a:defRPr sz="1200">
                <a:solidFill>
                  <a:srgbClr val="CADCFC"/>
                </a:solidFill>
                <a:latin typeface="Segoe UI"/>
              </a:defRPr>
            </a:pPr>
            <a:r>
              <a:t>•  80%+ QA Overhead Reduction: Shakes off manual scripting time, shifting focus to execution and design.</a:t>
            </a:r>
          </a:p>
          <a:p>
            <a:pPr algn="l">
              <a:spcAft>
                <a:spcPts val="400"/>
              </a:spcAft>
              <a:defRPr sz="1200">
                <a:solidFill>
                  <a:srgbClr val="CADCFC"/>
                </a:solidFill>
                <a:latin typeface="Segoe UI"/>
              </a:defRPr>
            </a:pPr>
            <a:r>
              <a:t>•  Standardized BDD Scenarios: Automatically produces Cucumber Gherkin feature files instantly.</a:t>
            </a:r>
          </a:p>
          <a:p>
            <a:pPr algn="l">
              <a:spcAft>
                <a:spcPts val="400"/>
              </a:spcAft>
              <a:defRPr sz="1200">
                <a:solidFill>
                  <a:srgbClr val="CADCFC"/>
                </a:solidFill>
                <a:latin typeface="Segoe UI"/>
              </a:defRPr>
            </a:pPr>
            <a:r>
              <a:t>•  Consistent Quality: Eradicates individual testing subjectivities across distributed teams.</a:t>
            </a:r>
          </a:p>
          <a:p>
            <a:pPr algn="l">
              <a:spcAft>
                <a:spcPts val="400"/>
              </a:spcAft>
              <a:defRPr sz="1200">
                <a:solidFill>
                  <a:srgbClr val="CADCFC"/>
                </a:solidFill>
                <a:latin typeface="Segoe UI"/>
              </a:defRPr>
            </a:pPr>
            <a:r>
              <a:t>•  Modern Stack Design: Integrates python UI, high-speed REST routes, and AI reasoning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2011680"/>
            <a:ext cx="411480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3749039" cy="31089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1B254B"/>
                </a:solidFill>
                <a:latin typeface="Segoe UI"/>
              </a:defRPr>
            </a:pPr>
            <a:r>
              <a:t>Questions &amp; Answers</a:t>
            </a: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Thank you for your time!</a:t>
            </a: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Any questions?</a:t>
            </a: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AI-Powered QA Studio</a:t>
            </a: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Enterprise QA Automation Engine</a:t>
            </a:r>
          </a:p>
          <a:p>
            <a:pPr algn="ctr">
              <a:spcAft>
                <a:spcPts val="400"/>
              </a:spcAft>
              <a:defRPr sz="1200">
                <a:solidFill>
                  <a:srgbClr val="1E2022"/>
                </a:solidFill>
                <a:latin typeface="Segoe UI"/>
              </a:defRPr>
            </a:pPr>
            <a:r>
              <a:t>•  Active Sprint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