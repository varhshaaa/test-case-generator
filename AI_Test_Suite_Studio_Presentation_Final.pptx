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076895" y="0"/>
            <a:ext cx="411480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03743" y="0"/>
            <a:ext cx="73152" cy="6858000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6583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FFB703"/>
                </a:solidFill>
                <a:latin typeface="Segoe UI"/>
              </a:defRPr>
            </a:pPr>
            <a:r>
              <a:t>NEXT-GEN QA AUTOMATION</a:t>
            </a:r>
          </a:p>
          <a:p>
            <a:pPr>
              <a:spcAft>
                <a:spcPts val="1400"/>
              </a:spcAft>
              <a:defRPr sz="4200" b="1">
                <a:solidFill>
                  <a:srgbClr val="FFFFFF"/>
                </a:solidFill>
                <a:latin typeface="Segoe UI"/>
              </a:defRPr>
            </a:pPr>
            <a:r>
              <a:t>AI-POWERED QA TEST SUITE STUDIO</a:t>
            </a:r>
          </a:p>
          <a:p>
            <a:pPr>
              <a:defRPr sz="1600">
                <a:solidFill>
                  <a:srgbClr val="94A3B8"/>
                </a:solidFill>
                <a:latin typeface="Segoe UI"/>
              </a:defRPr>
            </a:pPr>
            <a:r>
              <a:t>Accelerating Agile cycles through automated, high-fidelity test generation from user requirements.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42655" y="182880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1300" b="1">
                <a:solidFill>
                  <a:srgbClr val="FFB703"/>
                </a:solidFill>
                <a:latin typeface="Segoe UI"/>
              </a:defRPr>
            </a:pPr>
            <a:r>
              <a:t>ENGINE CAPABILITIES</a:t>
            </a:r>
          </a:p>
          <a:p>
            <a:pPr>
              <a:spcAft>
                <a:spcPts val="1200"/>
              </a:spcAft>
              <a:defRPr sz="1350">
                <a:solidFill>
                  <a:srgbClr val="FFFFFF"/>
                </a:solidFill>
                <a:latin typeface="Segoe UI"/>
              </a:defRPr>
            </a:pPr>
            <a:r>
              <a:t>➔  Positive Test Scenarios</a:t>
            </a:r>
          </a:p>
          <a:p>
            <a:pPr>
              <a:spcAft>
                <a:spcPts val="1200"/>
              </a:spcAft>
              <a:defRPr sz="1350">
                <a:solidFill>
                  <a:srgbClr val="FFFFFF"/>
                </a:solidFill>
                <a:latin typeface="Segoe UI"/>
              </a:defRPr>
            </a:pPr>
            <a:r>
              <a:t>➔  Negative Logic Checks</a:t>
            </a:r>
          </a:p>
          <a:p>
            <a:pPr>
              <a:spcAft>
                <a:spcPts val="1200"/>
              </a:spcAft>
              <a:defRPr sz="1350">
                <a:solidFill>
                  <a:srgbClr val="FFFFFF"/>
                </a:solidFill>
                <a:latin typeface="Segoe UI"/>
              </a:defRPr>
            </a:pPr>
            <a:r>
              <a:t>➔  Edge &amp; Boundary Suite</a:t>
            </a:r>
          </a:p>
          <a:p>
            <a:pPr>
              <a:spcAft>
                <a:spcPts val="1200"/>
              </a:spcAft>
              <a:defRPr sz="1350">
                <a:solidFill>
                  <a:srgbClr val="FFFFFF"/>
                </a:solidFill>
                <a:latin typeface="Segoe UI"/>
              </a:defRPr>
            </a:pPr>
            <a:r>
              <a:t>➔  Agile Acceptance Criteria</a:t>
            </a:r>
          </a:p>
          <a:p>
            <a:pPr>
              <a:spcAft>
                <a:spcPts val="1200"/>
              </a:spcAft>
              <a:defRPr sz="1350">
                <a:solidFill>
                  <a:srgbClr val="FFFFFF"/>
                </a:solidFill>
                <a:latin typeface="Segoe UI"/>
              </a:defRPr>
            </a:pPr>
            <a:r>
              <a:t>➔  Standard Gherkin Spec Generator</a:t>
            </a:r>
          </a:p>
          <a:p>
            <a:pPr>
              <a:spcAft>
                <a:spcPts val="1200"/>
              </a:spcAft>
              <a:defRPr sz="1350">
                <a:solidFill>
                  <a:srgbClr val="FFFFFF"/>
                </a:solidFill>
                <a:latin typeface="Segoe UI"/>
              </a:defRPr>
            </a:pPr>
            <a:r>
              <a:t>➔  Cucumber .feature Downloads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47472"/>
            <a:ext cx="2011680" cy="292608"/>
          </a:xfrm>
          <a:prstGeom prst="round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AGILE REQUIREMENT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11535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The Business Context: Requirements Lifecycle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10911535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2011680"/>
            <a:ext cx="9997135" cy="13716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103120"/>
            <a:ext cx="9601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FFB703"/>
                </a:solidFill>
                <a:latin typeface="Segoe UI"/>
              </a:defRPr>
            </a:pPr>
            <a:r>
              <a:t>NEW REQUIREMENT IN SPRINT</a:t>
            </a:r>
          </a:p>
          <a:p>
            <a:pPr>
              <a:defRPr sz="2000" b="1" i="1">
                <a:solidFill>
                  <a:srgbClr val="FFFFFF"/>
                </a:solidFill>
                <a:latin typeface="Segoe UI"/>
              </a:defRPr>
            </a:pPr>
            <a:r>
              <a:t>"As a shopper, I want to add products to my cart so that I can purchase them later."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566160"/>
            <a:ext cx="9997135" cy="22860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000"/>
              </a:spcAft>
              <a:defRPr sz="1800" b="1">
                <a:solidFill>
                  <a:srgbClr val="FFB703"/>
                </a:solidFill>
                <a:latin typeface="Segoe UI"/>
              </a:defRPr>
            </a:pPr>
            <a:r>
              <a:t>Translating Ideas to Code</a:t>
            </a:r>
          </a:p>
          <a:p>
            <a:pPr algn="l">
              <a:spcAft>
                <a:spcPts val="600"/>
              </a:spcAft>
              <a:defRPr sz="1450">
                <a:solidFill>
                  <a:srgbClr val="E2E8F0"/>
                </a:solidFill>
                <a:latin typeface="Segoe UI"/>
              </a:defRPr>
            </a:pPr>
            <a:r>
              <a:t>•  Every agile sprint begins with a user story defining functional user expectations.</a:t>
            </a:r>
          </a:p>
          <a:p>
            <a:pPr algn="l">
              <a:spcAft>
                <a:spcPts val="600"/>
              </a:spcAft>
              <a:defRPr sz="1450">
                <a:solidFill>
                  <a:srgbClr val="E2E8F0"/>
                </a:solidFill>
                <a:latin typeface="Segoe UI"/>
              </a:defRPr>
            </a:pPr>
            <a:r>
              <a:t>•  QA teams must manually map these requirements into validation checks before scripting begins.</a:t>
            </a:r>
          </a:p>
          <a:p>
            <a:pPr algn="l">
              <a:spcAft>
                <a:spcPts val="600"/>
              </a:spcAft>
              <a:defRPr sz="1450">
                <a:solidFill>
                  <a:srgbClr val="E2E8F0"/>
                </a:solidFill>
                <a:latin typeface="Segoe UI"/>
              </a:defRPr>
            </a:pPr>
            <a:r>
              <a:t>•  This manual translation is the bottleneck of release speed.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47472"/>
            <a:ext cx="2011680" cy="292608"/>
          </a:xfrm>
          <a:prstGeom prst="round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STANDARD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11535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The Traditional QA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246888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2468880" cy="109728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2194560" cy="36576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000"/>
              </a:spcAft>
              <a:defRPr sz="1800" b="1">
                <a:solidFill>
                  <a:srgbClr val="FFB703"/>
                </a:solidFill>
                <a:latin typeface="Segoe UI"/>
              </a:defRPr>
            </a:pPr>
            <a:r>
              <a:t>1. Analyze Story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QA reviews the story to extract user paths, validation rules, and business objectives.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645920"/>
            <a:ext cx="246888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0" y="1645920"/>
            <a:ext cx="2468880" cy="109728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920240"/>
            <a:ext cx="2194560" cy="36576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000"/>
              </a:spcAft>
              <a:defRPr sz="1800" b="1">
                <a:solidFill>
                  <a:srgbClr val="FFB703"/>
                </a:solidFill>
                <a:latin typeface="Segoe UI"/>
              </a:defRPr>
            </a:pPr>
            <a:r>
              <a:t>2. Map Scenarios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Map out standard functional branches and structural parameters.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645920"/>
            <a:ext cx="246888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645920"/>
            <a:ext cx="2468880" cy="109728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920240"/>
            <a:ext cx="2194560" cy="36576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000"/>
              </a:spcAft>
              <a:defRPr sz="1800" b="1">
                <a:solidFill>
                  <a:srgbClr val="FFB703"/>
                </a:solidFill>
                <a:latin typeface="Segoe UI"/>
              </a:defRPr>
            </a:pPr>
            <a:r>
              <a:t>3. Draft Cases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Manually write detailed positive and negative step-by-step test instructions.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0" y="1645920"/>
            <a:ext cx="246888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69680" y="1645920"/>
            <a:ext cx="2468880" cy="109728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6840" y="1920240"/>
            <a:ext cx="2194560" cy="36576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000"/>
              </a:spcAft>
              <a:defRPr sz="1800" b="1">
                <a:solidFill>
                  <a:srgbClr val="FFB703"/>
                </a:solidFill>
                <a:latin typeface="Segoe UI"/>
              </a:defRPr>
            </a:pPr>
            <a:r>
              <a:t>4. Validate Gaps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Cross-reference acceptance criteria to ensure zero validation flaws before release.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47472"/>
            <a:ext cx="2011680" cy="292608"/>
          </a:xfrm>
          <a:prstGeom prst="round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FRICTION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11535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The Sprint Bottleneck: Scale &amp; Human Bias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5212080" cy="43891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39535" y="1645920"/>
            <a:ext cx="5212080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663440" cy="38404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000"/>
              </a:spcAft>
              <a:defRPr sz="2200" b="1">
                <a:solidFill>
                  <a:srgbClr val="EF4444"/>
                </a:solidFill>
                <a:latin typeface="Segoe UI"/>
              </a:defRPr>
            </a:pPr>
            <a:r>
              <a:t>The Sprint Challenge</a:t>
            </a:r>
          </a:p>
          <a:p>
            <a:pPr algn="l">
              <a:spcAft>
                <a:spcPts val="600"/>
              </a:spcAft>
              <a:defRPr sz="1450">
                <a:solidFill>
                  <a:srgbClr val="E2E8F0"/>
                </a:solidFill>
                <a:latin typeface="Segoe UI"/>
              </a:defRPr>
            </a:pPr>
            <a:r>
              <a:t>"When hundreds of user stories are created during Agile sprints, manual test design becomes time-consuming and prone to inconsistencies."</a:t>
            </a:r>
          </a:p>
          <a:p>
            <a:pPr algn="l">
              <a:spcAft>
                <a:spcPts val="600"/>
              </a:spcAft>
              <a:defRPr sz="1450">
                <a:solidFill>
                  <a:srgbClr val="E2E8F0"/>
                </a:solidFill>
                <a:latin typeface="Segoe UI"/>
              </a:defRPr>
            </a:pPr>
          </a:p>
          <a:p>
            <a:pPr algn="l">
              <a:spcAft>
                <a:spcPts val="600"/>
              </a:spcAft>
              <a:defRPr sz="1450">
                <a:solidFill>
                  <a:srgbClr val="E2E8F0"/>
                </a:solidFill>
                <a:latin typeface="Segoe UI"/>
              </a:defRPr>
            </a:pPr>
            <a:r>
              <a:t>As sprint velocity rises, QA teams struggle to maintain test coverage, creating a bottleneck that delays launch schedules.</a:t>
            </a:r>
          </a:p>
        </p:txBody>
      </p:sp>
      <p:sp>
        <p:nvSpPr>
          <p:cNvPr id="8" name="Oval 7"/>
          <p:cNvSpPr/>
          <p:nvPr/>
        </p:nvSpPr>
        <p:spPr>
          <a:xfrm>
            <a:off x="6613855" y="1956816"/>
            <a:ext cx="365760" cy="365760"/>
          </a:xfrm>
          <a:prstGeom prst="ellipse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18288"/>
          <a:lstStyle/>
          <a:p>
            <a:pPr algn="ctr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6775" y="1920240"/>
            <a:ext cx="4160520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700" b="1">
                <a:solidFill>
                  <a:srgbClr val="FFB703"/>
                </a:solidFill>
                <a:latin typeface="Segoe UI"/>
              </a:defRPr>
            </a:pPr>
            <a:r>
              <a:t>Inconsistent Outputs</a:t>
            </a:r>
          </a:p>
          <a:p>
            <a:pPr>
              <a:spcBef>
                <a:spcPts val="400"/>
              </a:spcBef>
              <a:defRPr sz="1350">
                <a:solidFill>
                  <a:srgbClr val="E2E8F0"/>
                </a:solidFill>
                <a:latin typeface="Segoe UI"/>
              </a:defRPr>
            </a:pPr>
            <a:r>
              <a:t>Tester subjectivity results in varying depths and formats across documentation.</a:t>
            </a:r>
          </a:p>
        </p:txBody>
      </p:sp>
      <p:sp>
        <p:nvSpPr>
          <p:cNvPr id="10" name="Oval 9"/>
          <p:cNvSpPr/>
          <p:nvPr/>
        </p:nvSpPr>
        <p:spPr>
          <a:xfrm>
            <a:off x="6613855" y="3054096"/>
            <a:ext cx="365760" cy="365760"/>
          </a:xfrm>
          <a:prstGeom prst="ellipse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18288"/>
          <a:lstStyle/>
          <a:p>
            <a:pPr algn="ctr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6775" y="3017520"/>
            <a:ext cx="4160520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700" b="1">
                <a:solidFill>
                  <a:srgbClr val="FFB703"/>
                </a:solidFill>
                <a:latin typeface="Segoe UI"/>
              </a:defRPr>
            </a:pPr>
            <a:r>
              <a:t>Omitted Boundary Checks</a:t>
            </a:r>
          </a:p>
          <a:p>
            <a:pPr>
              <a:spcBef>
                <a:spcPts val="400"/>
              </a:spcBef>
              <a:defRPr sz="1350">
                <a:solidFill>
                  <a:srgbClr val="E2E8F0"/>
                </a:solidFill>
                <a:latin typeface="Segoe UI"/>
              </a:defRPr>
            </a:pPr>
            <a:r>
              <a:t>Time pressure limits focus to happy-paths, neglecting negative edge conditions.</a:t>
            </a:r>
          </a:p>
        </p:txBody>
      </p:sp>
      <p:sp>
        <p:nvSpPr>
          <p:cNvPr id="12" name="Oval 11"/>
          <p:cNvSpPr/>
          <p:nvPr/>
        </p:nvSpPr>
        <p:spPr>
          <a:xfrm>
            <a:off x="6613855" y="4151376"/>
            <a:ext cx="365760" cy="365760"/>
          </a:xfrm>
          <a:prstGeom prst="ellipse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18288"/>
          <a:lstStyle/>
          <a:p>
            <a:pPr algn="ctr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6775" y="4114800"/>
            <a:ext cx="4160520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700" b="1">
                <a:solidFill>
                  <a:srgbClr val="FFB703"/>
                </a:solidFill>
                <a:latin typeface="Segoe UI"/>
              </a:defRPr>
            </a:pPr>
            <a:r>
              <a:t>BDD Gherkin Redundancies</a:t>
            </a:r>
          </a:p>
          <a:p>
            <a:pPr>
              <a:spcBef>
                <a:spcPts val="400"/>
              </a:spcBef>
              <a:defRPr sz="1350">
                <a:solidFill>
                  <a:srgbClr val="E2E8F0"/>
                </a:solidFill>
                <a:latin typeface="Segoe UI"/>
              </a:defRPr>
            </a:pPr>
            <a:r>
              <a:t>Writing Cucumber specifications manually introduces spelling and validation errors.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47472"/>
            <a:ext cx="2011680" cy="292608"/>
          </a:xfrm>
          <a:prstGeom prst="round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AUTOMATION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11535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The Solution: AI-Powered QA Studio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10911535" cy="43891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10362895" cy="10972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000"/>
              </a:spcAft>
              <a:defRPr sz="2100" b="1">
                <a:solidFill>
                  <a:srgbClr val="10B981"/>
                </a:solidFill>
                <a:latin typeface="Segoe UI"/>
              </a:defRPr>
            </a:pPr>
            <a:r>
              <a:t>"Our AI-powered solution automatically generates test scenarios from user stories, reducing effort and improving testing efficiency."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962656"/>
            <a:ext cx="365760" cy="365760"/>
          </a:xfrm>
          <a:prstGeom prst="ellipse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18288"/>
          <a:lstStyle/>
          <a:p>
            <a:pPr algn="ctr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26080"/>
            <a:ext cx="9859975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700" b="1">
                <a:solidFill>
                  <a:srgbClr val="FFB703"/>
                </a:solidFill>
                <a:latin typeface="Segoe UI"/>
              </a:defRPr>
            </a:pPr>
            <a:r>
              <a:t>Instant Processing</a:t>
            </a:r>
          </a:p>
          <a:p>
            <a:pPr>
              <a:spcBef>
                <a:spcPts val="400"/>
              </a:spcBef>
              <a:defRPr sz="1350">
                <a:solidFill>
                  <a:srgbClr val="E2E8F0"/>
                </a:solidFill>
                <a:latin typeface="Segoe UI"/>
              </a:defRPr>
            </a:pPr>
            <a:r>
              <a:t>Parses raw sprint requirements instantly, producing complete test suites in seconds.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4059936"/>
            <a:ext cx="365760" cy="365760"/>
          </a:xfrm>
          <a:prstGeom prst="ellipse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18288"/>
          <a:lstStyle/>
          <a:p>
            <a:pPr algn="ctr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4023360"/>
            <a:ext cx="9859975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700" b="1">
                <a:solidFill>
                  <a:srgbClr val="FFB703"/>
                </a:solidFill>
                <a:latin typeface="Segoe UI"/>
              </a:defRPr>
            </a:pPr>
            <a:r>
              <a:t>Multidimensional Scenarios</a:t>
            </a:r>
          </a:p>
          <a:p>
            <a:pPr>
              <a:spcBef>
                <a:spcPts val="400"/>
              </a:spcBef>
              <a:defRPr sz="1350">
                <a:solidFill>
                  <a:srgbClr val="E2E8F0"/>
                </a:solidFill>
                <a:latin typeface="Segoe UI"/>
              </a:defRPr>
            </a:pPr>
            <a:r>
              <a:t>Generates positive, negative, and edge test scenarios simultaneously.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5157216"/>
            <a:ext cx="365760" cy="365760"/>
          </a:xfrm>
          <a:prstGeom prst="ellipse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18288"/>
          <a:lstStyle/>
          <a:p>
            <a:pPr algn="ctr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5120640"/>
            <a:ext cx="9859975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700" b="1">
                <a:solidFill>
                  <a:srgbClr val="FFB703"/>
                </a:solidFill>
                <a:latin typeface="Segoe UI"/>
              </a:defRPr>
            </a:pPr>
            <a:r>
              <a:t>BDD Gherkin Spec Files</a:t>
            </a:r>
          </a:p>
          <a:p>
            <a:pPr>
              <a:spcBef>
                <a:spcPts val="400"/>
              </a:spcBef>
              <a:defRPr sz="1350">
                <a:solidFill>
                  <a:srgbClr val="E2E8F0"/>
                </a:solidFill>
                <a:latin typeface="Segoe UI"/>
              </a:defRPr>
            </a:pPr>
            <a:r>
              <a:t>Automatically compiles Cucumber-compliant Given/When/Then scenario structures.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47472"/>
            <a:ext cx="2011680" cy="292608"/>
          </a:xfrm>
          <a:prstGeom prst="round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QA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11535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Core Features &amp; Capabilities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530352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48095" y="1645920"/>
            <a:ext cx="530352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3840480"/>
            <a:ext cx="530352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48095" y="3840480"/>
            <a:ext cx="530352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45920"/>
            <a:ext cx="5303520" cy="91440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840480"/>
            <a:ext cx="5303520" cy="91440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48095" y="1645920"/>
            <a:ext cx="5303520" cy="91440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8095" y="3840480"/>
            <a:ext cx="5303520" cy="91440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828800"/>
            <a:ext cx="4937760" cy="16459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000"/>
              </a:spcAft>
              <a:defRPr sz="1700" b="1">
                <a:solidFill>
                  <a:srgbClr val="FFB703"/>
                </a:solidFill>
                <a:latin typeface="Segoe UI"/>
              </a:defRPr>
            </a:pPr>
            <a:r>
              <a:t>Positive Test Generation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Validates standard user journeys (happy paths) to ensure features work correctly under normal conditions.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0975" y="1828800"/>
            <a:ext cx="4937760" cy="16459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000"/>
              </a:spcAft>
              <a:defRPr sz="1700" b="1">
                <a:solidFill>
                  <a:srgbClr val="FFB703"/>
                </a:solidFill>
                <a:latin typeface="Segoe UI"/>
              </a:defRPr>
            </a:pPr>
            <a:r>
              <a:t>Negative Test Generation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Validates input verification rules, data format checking, and boundary errors, ensuring failures are handled.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023360"/>
            <a:ext cx="4937760" cy="16459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000"/>
              </a:spcAft>
              <a:defRPr sz="1700" b="1">
                <a:solidFill>
                  <a:srgbClr val="FFB703"/>
                </a:solidFill>
                <a:latin typeface="Segoe UI"/>
              </a:defRPr>
            </a:pPr>
            <a:r>
              <a:t>Edge &amp; Boundary Testing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Validates extreme values, character limits, rate capacities, and empty payloads to build software resilience.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0975" y="4023360"/>
            <a:ext cx="4937760" cy="16459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000"/>
              </a:spcAft>
              <a:defRPr sz="1700" b="1">
                <a:solidFill>
                  <a:srgbClr val="FFB703"/>
                </a:solidFill>
                <a:latin typeface="Segoe UI"/>
              </a:defRPr>
            </a:pPr>
            <a:r>
              <a:t>BDD Cucumber Spec Engine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Transforms generated scenarios into Cucumber-ready Given/When/Then structures with instant download options.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47472"/>
            <a:ext cx="2011680" cy="292608"/>
          </a:xfrm>
          <a:prstGeom prst="round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DATA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11535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High-Level 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192024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737360" cy="10972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spcAft>
                <a:spcPts val="10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Streamlit UI</a:t>
            </a:r>
          </a:p>
          <a:p>
            <a:pPr algn="ctr">
              <a:spcAft>
                <a:spcPts val="60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User Story input</a:t>
            </a:r>
          </a:p>
          <a:p>
            <a:pPr algn="ctr">
              <a:spcAft>
                <a:spcPts val="60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Dynamic rendering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2011680"/>
            <a:ext cx="36576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spcAft>
                <a:spcPts val="1000"/>
              </a:spcAft>
              <a:defRPr sz="2800" b="1">
                <a:solidFill>
                  <a:srgbClr val="FFB703"/>
                </a:solidFill>
                <a:latin typeface="Segoe UI"/>
              </a:defRPr>
            </a:pPr>
            <a:r>
              <a:t>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1645920"/>
            <a:ext cx="192024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1737360"/>
            <a:ext cx="1737360" cy="10972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spcAft>
                <a:spcPts val="10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FastAPI Backend</a:t>
            </a:r>
          </a:p>
          <a:p>
            <a:pPr algn="ctr">
              <a:spcAft>
                <a:spcPts val="60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Asynchronous router</a:t>
            </a:r>
          </a:p>
          <a:p>
            <a:pPr algn="ctr">
              <a:spcAft>
                <a:spcPts val="60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REST endpoints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011680"/>
            <a:ext cx="36576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spcAft>
                <a:spcPts val="1000"/>
              </a:spcAft>
              <a:defRPr sz="2800" b="1">
                <a:solidFill>
                  <a:srgbClr val="FFB703"/>
                </a:solidFill>
                <a:latin typeface="Segoe UI"/>
              </a:defRPr>
            </a:pPr>
            <a:r>
              <a:t>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12080" y="1645920"/>
            <a:ext cx="192024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1737360"/>
            <a:ext cx="1737360" cy="10972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spcAft>
                <a:spcPts val="10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Groq Service</a:t>
            </a:r>
          </a:p>
          <a:p>
            <a:pPr algn="ctr">
              <a:spcAft>
                <a:spcPts val="60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LLaMA 3.3-70B API</a:t>
            </a:r>
          </a:p>
          <a:p>
            <a:pPr algn="ctr">
              <a:spcAft>
                <a:spcPts val="60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JSON Object Mode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2011680"/>
            <a:ext cx="36576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spcAft>
                <a:spcPts val="1000"/>
              </a:spcAft>
              <a:defRPr sz="2800" b="1">
                <a:solidFill>
                  <a:srgbClr val="FFB703"/>
                </a:solidFill>
                <a:latin typeface="Segoe UI"/>
              </a:defRPr>
            </a:pPr>
            <a:r>
              <a:t>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1645920"/>
            <a:ext cx="192024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0" y="1737360"/>
            <a:ext cx="1737360" cy="10972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spcAft>
                <a:spcPts val="10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Output Compiler</a:t>
            </a:r>
          </a:p>
          <a:p>
            <a:pPr algn="ctr">
              <a:spcAft>
                <a:spcPts val="60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Pydantic validation</a:t>
            </a:r>
          </a:p>
          <a:p>
            <a:pPr algn="ctr">
              <a:spcAft>
                <a:spcPts val="60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Gherkin file compiler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2011680"/>
            <a:ext cx="36576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spcAft>
                <a:spcPts val="1000"/>
              </a:spcAft>
              <a:defRPr sz="2800" b="1">
                <a:solidFill>
                  <a:srgbClr val="FFB703"/>
                </a:solidFill>
                <a:latin typeface="Segoe UI"/>
              </a:defRPr>
            </a:pPr>
            <a:r>
              <a:t>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84080" y="1645920"/>
            <a:ext cx="173736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0" y="1737360"/>
            <a:ext cx="1554480" cy="10972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spcAft>
                <a:spcPts val="10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UI Display</a:t>
            </a:r>
          </a:p>
          <a:p>
            <a:pPr algn="ctr">
              <a:spcAft>
                <a:spcPts val="60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Copy-to-Clipboard</a:t>
            </a:r>
          </a:p>
          <a:p>
            <a:pPr algn="ctr">
              <a:spcAft>
                <a:spcPts val="60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.feature download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291840"/>
            <a:ext cx="10911535" cy="26517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474720"/>
            <a:ext cx="10362895" cy="22860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000"/>
              </a:spcAft>
              <a:defRPr sz="1600" b="1">
                <a:solidFill>
                  <a:srgbClr val="FFB703"/>
                </a:solidFill>
                <a:latin typeface="Segoe UI"/>
              </a:defRPr>
            </a:pPr>
            <a:r>
              <a:t>Integrated Architecture Features: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•  Decoupled Client-Server: Allows independent scale of the Streamlit UI and FastAPI backend.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•  Groq Cloud Optimization: Achieves token completion speeds over 500 tokens/second.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•  JSON Schema Injection: System instructions embed schemas to prevent syntax anomalies.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•  Local Disk Buffer: Instantly stores Gherkin specs on backend disk to streamline download routing.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47472"/>
            <a:ext cx="2011680" cy="292608"/>
          </a:xfrm>
          <a:prstGeom prst="round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TOOLS &amp; FRAMEWORKS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11535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Technology Stack Breakdown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2560320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2560320" cy="109728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2286000" cy="39319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000"/>
              </a:spcAft>
              <a:defRPr sz="1800" b="1">
                <a:solidFill>
                  <a:srgbClr val="FFB703"/>
                </a:solidFill>
                <a:latin typeface="Segoe UI"/>
              </a:defRPr>
            </a:pPr>
            <a:r>
              <a:t>Frontend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[Streamlit &amp; Python]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•  Rapid interface development.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•  Streamlit Session State.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•  Injected HTML clipboard widgets.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•  Clean layout tabs.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645920"/>
            <a:ext cx="2560320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0" y="1645920"/>
            <a:ext cx="2560320" cy="109728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920240"/>
            <a:ext cx="2286000" cy="39319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000"/>
              </a:spcAft>
              <a:defRPr sz="1800" b="1">
                <a:solidFill>
                  <a:srgbClr val="FFB703"/>
                </a:solidFill>
                <a:latin typeface="Segoe UI"/>
              </a:defRPr>
            </a:pPr>
            <a:r>
              <a:t>Backend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[FastAPI &amp; Python]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•  Asynchronous API execution.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•  Pydantic request validators.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•  CORS routing support.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•  Disk file streaming API.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645920"/>
            <a:ext cx="2560320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645920"/>
            <a:ext cx="2560320" cy="109728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920240"/>
            <a:ext cx="2286000" cy="39319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000"/>
              </a:spcAft>
              <a:defRPr sz="1800" b="1">
                <a:solidFill>
                  <a:srgbClr val="FFB703"/>
                </a:solidFill>
                <a:latin typeface="Segoe UI"/>
              </a:defRPr>
            </a:pPr>
            <a:r>
              <a:t>AI Engine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[LLaMA 3.3-70B]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•  Low-latency Groq Cloud.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•  Temperature: 0.15 (repeatable).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•  Response schema matching.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•  High processing speeds.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0" y="1645920"/>
            <a:ext cx="2560320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69680" y="1645920"/>
            <a:ext cx="2560320" cy="109728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6840" y="1920240"/>
            <a:ext cx="2286000" cy="39319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000"/>
              </a:spcAft>
              <a:defRPr sz="1800" b="1">
                <a:solidFill>
                  <a:srgbClr val="FFB703"/>
                </a:solidFill>
                <a:latin typeface="Segoe UI"/>
              </a:defRPr>
            </a:pPr>
            <a:r>
              <a:t>Tooling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[Pytest &amp; Git]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•  Unit validation checks.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•  Mocked integration runs.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•  Fast local debugging.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•  Secure version control.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47472"/>
            <a:ext cx="2011680" cy="292608"/>
          </a:xfrm>
          <a:prstGeom prst="round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USER WORKSPACE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11535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Streamlit Frontend User Interface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5212080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39535" y="1645920"/>
            <a:ext cx="5212080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663440" cy="38404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000"/>
              </a:spcAft>
              <a:defRPr sz="1800" b="1">
                <a:solidFill>
                  <a:srgbClr val="FFB703"/>
                </a:solidFill>
                <a:latin typeface="Segoe UI"/>
              </a:defRPr>
            </a:pPr>
            <a:r>
              <a:t>UI Components</a:t>
            </a:r>
          </a:p>
          <a:p>
            <a:pPr algn="l"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•  User Story Input Text Area: Pre-populated placeholder user stories allow immediate sandbox validation.</a:t>
            </a:r>
          </a:p>
          <a:p>
            <a:pPr algn="l"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•  Interactive Action Button: Launches asynchronous generation tasks.</a:t>
            </a:r>
          </a:p>
          <a:p>
            <a:pPr algn="l"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•  Output Display Tabs: Organizes test cases, criteria, and specs into clean screens.</a:t>
            </a:r>
          </a:p>
          <a:p>
            <a:pPr algn="l"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•  Clipboard Module: HTML-embedded widgets copy results to clipboard.</a:t>
            </a:r>
          </a:p>
          <a:p>
            <a:pPr algn="l"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•  Download Trigger: Streams feature files to browser.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13855" y="1920240"/>
            <a:ext cx="4663440" cy="38404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000"/>
              </a:spcAft>
              <a:defRPr sz="1800" b="1">
                <a:solidFill>
                  <a:srgbClr val="FFB703"/>
                </a:solidFill>
                <a:latin typeface="Segoe UI"/>
              </a:defRPr>
            </a:pPr>
            <a:r>
              <a:t>UX and Design Strengths</a:t>
            </a:r>
          </a:p>
          <a:p>
            <a:pPr algn="l"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•  Custom CSS overrides: Implements deep navy banners, off-white backdrops, and gold badges.</a:t>
            </a:r>
          </a:p>
          <a:p>
            <a:pPr algn="l"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•  Session State Management: Preserves loaded results across browser redraw cycles.</a:t>
            </a:r>
          </a:p>
          <a:p>
            <a:pPr algn="l"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•  Minimalist Structure: Side-by-side design ensures immediate validation feedback.</a:t>
            </a:r>
          </a:p>
          <a:p>
            <a:pPr algn="l"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•  Activity Indicators: Spinning visual feedback indicates active processing status.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47472"/>
            <a:ext cx="2011680" cy="292608"/>
          </a:xfrm>
          <a:prstGeom prst="round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REST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11535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FastAPI Backend Implementation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5212080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39535" y="1645920"/>
            <a:ext cx="5212080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663440" cy="38404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000"/>
              </a:spcAft>
              <a:defRPr sz="1800" b="1">
                <a:solidFill>
                  <a:srgbClr val="FFB703"/>
                </a:solidFill>
                <a:latin typeface="Segoe UI"/>
              </a:defRPr>
            </a:pPr>
            <a:r>
              <a:t>Core Endpoints</a:t>
            </a:r>
          </a:p>
          <a:p>
            <a:pPr algn="l"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•  `POST /generate`:</a:t>
            </a:r>
          </a:p>
          <a:p>
            <a:pPr algn="l"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    - Receives user story JSON payload.</a:t>
            </a:r>
          </a:p>
          <a:p>
            <a:pPr algn="l"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    - Connects to Groq cloud API.</a:t>
            </a:r>
          </a:p>
          <a:p>
            <a:pPr algn="l"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    - Formats scenarios into Gherkin templates.</a:t>
            </a:r>
          </a:p>
          <a:p>
            <a:pPr algn="l"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    - Stores feature spec on local backend disk.</a:t>
            </a:r>
          </a:p>
          <a:p>
            <a:pPr algn="l"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    - Returns parsed JSON response.</a:t>
            </a:r>
          </a:p>
          <a:p>
            <a:pPr algn="l"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</a:p>
          <a:p>
            <a:pPr algn="l"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•  `GET /download`:</a:t>
            </a:r>
          </a:p>
          <a:p>
            <a:pPr algn="l"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    - Streams `.feature` files via `FileResponse`.</a:t>
            </a:r>
          </a:p>
          <a:p>
            <a:pPr algn="l"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</a:p>
          <a:p>
            <a:pPr algn="l"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•  `GET /`: Base health check monitoring.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13855" y="1920240"/>
            <a:ext cx="4663440" cy="38404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000"/>
              </a:spcAft>
              <a:defRPr sz="1800" b="1">
                <a:solidFill>
                  <a:srgbClr val="FFB703"/>
                </a:solidFill>
                <a:latin typeface="Segoe UI"/>
              </a:defRPr>
            </a:pPr>
            <a:r>
              <a:t>Technical Capabilities</a:t>
            </a:r>
          </a:p>
          <a:p>
            <a:pPr algn="l"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•  Asynchronous Processing: Implements async/await routing to handle concurrent requests.</a:t>
            </a:r>
          </a:p>
          <a:p>
            <a:pPr algn="l"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•  CORS Integration: CORS Middleware configuration allows cross-origin communication between UI and Backend.</a:t>
            </a:r>
          </a:p>
          <a:p>
            <a:pPr algn="l"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•  Data Schemas: Pydantic schemas validate inputs and outputs.</a:t>
            </a:r>
          </a:p>
          <a:p>
            <a:pPr algn="l"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•  Standard Error Handling: Returns clean HTTP exceptions for troubleshooting.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47472"/>
            <a:ext cx="2011680" cy="292608"/>
          </a:xfrm>
          <a:prstGeom prst="round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AI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11535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LLM Service &amp; Prompt Engineering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5212080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39535" y="1645920"/>
            <a:ext cx="5212080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663440" cy="38404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000"/>
              </a:spcAft>
              <a:defRPr sz="1800" b="1">
                <a:solidFill>
                  <a:srgbClr val="FFB703"/>
                </a:solidFill>
                <a:latin typeface="Segoe UI"/>
              </a:defRPr>
            </a:pPr>
            <a:r>
              <a:t>Groq Service Configs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•  Model Assets: LLaMA 3.3 70B Versatile model provides balance of logic and token processing speed.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•  Temperature settings (0.15): Limits creative output, producing consistent QA test cases.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•  JSON object mode: Configures LLM calls with `response_format={'type': 'json_object'}`, guaranteeing return data is syntax-correct JSON.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13855" y="1920240"/>
            <a:ext cx="4663440" cy="38404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000"/>
              </a:spcAft>
              <a:defRPr sz="1800" b="1">
                <a:solidFill>
                  <a:srgbClr val="FFB703"/>
                </a:solidFill>
                <a:latin typeface="Segoe UI"/>
              </a:defRPr>
            </a:pPr>
            <a:r>
              <a:t>Prompt Engineering Design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•  System Persona: Set as a 'Principal QA Automation Architect'.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•  Structured Schema Injection: Embeds the desired Pydantic JSON schema directly into system guidelines.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•  Strict Exclusions: Instructs the model to return raw JSON ONLY, omitting markdown tags (e.g., ```json), prefaces, and summaries.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47472"/>
            <a:ext cx="2011680" cy="292608"/>
          </a:xfrm>
          <a:prstGeom prst="round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QUALITY ASSURANCE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11535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Testing &amp; Backend API 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5212080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39535" y="1645920"/>
            <a:ext cx="5212080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663440" cy="38404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000"/>
              </a:spcAft>
              <a:defRPr sz="1800" b="1">
                <a:solidFill>
                  <a:srgbClr val="FFB703"/>
                </a:solidFill>
                <a:latin typeface="Segoe UI"/>
              </a:defRPr>
            </a:pPr>
            <a:r>
              <a:t>API Testing Framework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•  Built using Pytest and FastAPI's `TestClient` class.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•  Ensures endpoints conform to specifications during upgrades.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•  Runs tests using standard shell command: `python -m pytest test_main.py -v`.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•  Ensures backend service runs reliably with every commit.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13855" y="1920240"/>
            <a:ext cx="4663440" cy="38404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000"/>
              </a:spcAft>
              <a:defRPr sz="1800" b="1">
                <a:solidFill>
                  <a:srgbClr val="FFB703"/>
                </a:solidFill>
                <a:latin typeface="Segoe UI"/>
              </a:defRPr>
            </a:pPr>
            <a:r>
              <a:t>Key Test Scenarios Checked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•  `test_root`: Validates the health check endpoint `/` returns a HTTP 200 code and active status.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•  `test_generate_empty_story`: Asserts that sending empty strings to `/generate` returns a 400 Bad Request error.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•  LLM Integrations Validation: Asserts that successful mock payloads generate valid JSON with required keys: `feature_name`, `positive_test_cases`, etc.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47472"/>
            <a:ext cx="2011680" cy="292608"/>
          </a:xfrm>
          <a:prstGeom prst="round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11535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Case Study: Shopping Cart User Story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10911535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2011680"/>
            <a:ext cx="9997135" cy="13716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103120"/>
            <a:ext cx="9601200" cy="11887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000"/>
              </a:spcAft>
              <a:defRPr sz="1600" b="1">
                <a:solidFill>
                  <a:srgbClr val="FFB703"/>
                </a:solidFill>
                <a:latin typeface="Segoe UI"/>
              </a:defRPr>
            </a:pPr>
            <a:r>
              <a:t>Agile User Story under Review:</a:t>
            </a:r>
          </a:p>
          <a:p>
            <a:pPr algn="l">
              <a:spcAft>
                <a:spcPts val="600"/>
              </a:spcAft>
              <a:defRPr sz="1900">
                <a:solidFill>
                  <a:srgbClr val="FFFFFF"/>
                </a:solidFill>
                <a:latin typeface="Segoe UI"/>
              </a:defRPr>
            </a:pPr>
            <a:r>
              <a:t>"As a shopper, I want to add products to my cart so that I can purchase them later."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566160"/>
            <a:ext cx="9997135" cy="22860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000"/>
              </a:spcAft>
              <a:defRPr sz="1700" b="1">
                <a:solidFill>
                  <a:srgbClr val="FFB703"/>
                </a:solidFill>
                <a:latin typeface="Segoe UI"/>
              </a:defRPr>
            </a:pPr>
            <a:r>
              <a:t>Functional Scope Elements: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•  Target Persona: Shopper (supports guest sessions and authenticated profiles).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•  Trigger Action: Clicking 'Add to Cart' button from product cards or details pages.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•  Expected System State: Cart increments in header, item details persist in active session caches.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•  Hidden Business Rules to Verify: Stock availability validation, purchase quantity limit checks, duplicate submission click handling.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47472"/>
            <a:ext cx="2011680" cy="292608"/>
          </a:xfrm>
          <a:prstGeom prst="round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11535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Case Study: Generated QA Output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5212080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39535" y="1645920"/>
            <a:ext cx="52120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663440" cy="38404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000"/>
              </a:spcAft>
              <a:defRPr sz="1800" b="1">
                <a:solidFill>
                  <a:srgbClr val="FFB703"/>
                </a:solidFill>
                <a:latin typeface="Segoe UI"/>
              </a:defRPr>
            </a:pPr>
            <a:r>
              <a:t>Generated Test Scenarios</a:t>
            </a:r>
          </a:p>
          <a:p>
            <a:pPr algn="l"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•  Positive Test cases:</a:t>
            </a:r>
          </a:p>
          <a:p>
            <a:pPr algn="l"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    - Add a single in-stock item. Verify badge updates.</a:t>
            </a:r>
          </a:p>
          <a:p>
            <a:pPr algn="l"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    - Add multiple different items. Verify list calculations.</a:t>
            </a:r>
          </a:p>
          <a:p>
            <a:pPr algn="l"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</a:p>
          <a:p>
            <a:pPr algn="l"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•  Negative Test cases:</a:t>
            </a:r>
          </a:p>
          <a:p>
            <a:pPr algn="l"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    - Add out-of-stock items. Verify error banners.</a:t>
            </a:r>
          </a:p>
          <a:p>
            <a:pPr algn="l"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    - Try posting negative quantities in payloads.</a:t>
            </a:r>
          </a:p>
          <a:p>
            <a:pPr algn="l"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</a:p>
          <a:p>
            <a:pPr algn="l"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•  Edge Test cases:</a:t>
            </a:r>
          </a:p>
          <a:p>
            <a:pPr algn="l"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    - Quantity exceeds warehouse catalog limit.</a:t>
            </a:r>
          </a:p>
          <a:p>
            <a:pPr algn="l"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    - Close browser and restore active session cart cached list.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22415" y="1920240"/>
            <a:ext cx="4846320" cy="38404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000"/>
              </a:spcAft>
              <a:defRPr sz="1800" b="1">
                <a:solidFill>
                  <a:srgbClr val="FFB703"/>
                </a:solidFill>
                <a:latin typeface="Segoe UI"/>
              </a:defRPr>
            </a:pPr>
            <a:r>
              <a:t>BDD Cucumber Spec File Preview</a:t>
            </a:r>
          </a:p>
          <a:p>
            <a:pPr algn="l">
              <a:spcAft>
                <a:spcPts val="6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Feature: Shopping Cart Management</a:t>
            </a:r>
          </a:p>
          <a:p>
            <a:pPr algn="l">
              <a:spcAft>
                <a:spcPts val="600"/>
              </a:spcAft>
              <a:defRPr sz="1100">
                <a:solidFill>
                  <a:srgbClr val="FFFFFF"/>
                </a:solidFill>
                <a:latin typeface="Segoe UI"/>
              </a:defRPr>
            </a:pPr>
          </a:p>
          <a:p>
            <a:pPr algn="l">
              <a:spcAft>
                <a:spcPts val="6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  Scenario: Successfully adding an item</a:t>
            </a:r>
          </a:p>
          <a:p>
            <a:pPr algn="l">
              <a:spcAft>
                <a:spcPts val="6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    Given the shopper is viewing an in-stock product</a:t>
            </a:r>
          </a:p>
          <a:p>
            <a:pPr algn="l">
              <a:spcAft>
                <a:spcPts val="6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    When the shopper clicks "Add to Cart"</a:t>
            </a:r>
          </a:p>
          <a:p>
            <a:pPr algn="l">
              <a:spcAft>
                <a:spcPts val="6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    Then the product is added to the cart</a:t>
            </a:r>
          </a:p>
          <a:p>
            <a:pPr algn="l">
              <a:spcAft>
                <a:spcPts val="6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    And the cart badge increments by 1</a:t>
            </a:r>
          </a:p>
          <a:p>
            <a:pPr algn="l">
              <a:spcAft>
                <a:spcPts val="600"/>
              </a:spcAft>
              <a:defRPr sz="1100">
                <a:solidFill>
                  <a:srgbClr val="FFFFFF"/>
                </a:solidFill>
                <a:latin typeface="Segoe UI"/>
              </a:defRPr>
            </a:pPr>
          </a:p>
          <a:p>
            <a:pPr algn="l">
              <a:spcAft>
                <a:spcPts val="6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  Scenario: Out of stock item behavior</a:t>
            </a:r>
          </a:p>
          <a:p>
            <a:pPr algn="l">
              <a:spcAft>
                <a:spcPts val="6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    Given the shopper views an out-of-stock product</a:t>
            </a:r>
          </a:p>
          <a:p>
            <a:pPr algn="l">
              <a:spcAft>
                <a:spcPts val="6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    When the shopper clicks "Add to Cart"</a:t>
            </a:r>
          </a:p>
          <a:p>
            <a:pPr algn="l">
              <a:spcAft>
                <a:spcPts val="6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    Then a "Product out of stock" error shows</a:t>
            </a:r>
          </a:p>
          <a:p>
            <a:pPr algn="l">
              <a:spcAft>
                <a:spcPts val="6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    And the cart badge does not increment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Conclusion &amp; Key Takeaways</a:t>
            </a:r>
          </a:p>
          <a:p>
            <a:pPr>
              <a:spcBef>
                <a:spcPts val="400"/>
              </a:spcBef>
              <a:defRPr sz="1600">
                <a:solidFill>
                  <a:srgbClr val="FFB703"/>
                </a:solidFill>
                <a:latin typeface="Segoe UI"/>
              </a:defRPr>
            </a:pPr>
            <a:r>
              <a:t>QA Scenario Generation Engine Value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5669280" cy="41148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000"/>
              </a:spcAft>
              <a:defRPr sz="1800" b="1">
                <a:solidFill>
                  <a:srgbClr val="FFB703"/>
                </a:solidFill>
                <a:latin typeface="Segoe UI"/>
              </a:defRPr>
            </a:pPr>
            <a:r>
              <a:t>Business Value &amp; Impact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•  80%+ QA Overhead Reduction: Removes manual scripting time, shifting developer and tester focus to test plan design.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•  Consistent Test Quality: Eradicates testing gaps across distributed development teams.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•  Cucumber Compliance: Compiles syntax-correct feature files directly into testing repositories.</a:t>
            </a:r>
          </a:p>
          <a:p>
            <a:pPr algn="l">
              <a:spcAft>
                <a:spcPts val="600"/>
              </a:spcAft>
              <a:defRPr sz="1350">
                <a:solidFill>
                  <a:srgbClr val="E2E8F0"/>
                </a:solidFill>
                <a:latin typeface="Segoe UI"/>
              </a:defRPr>
            </a:pPr>
            <a:r>
              <a:t>•  Extensible Architecture: Asynchronous FastAPI and Groq API pipelines ready for ALM ticket connections (Jira/Azure).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0" y="2011680"/>
            <a:ext cx="4114800" cy="3657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2286000"/>
            <a:ext cx="3749039" cy="31089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spcAft>
                <a:spcPts val="1000"/>
              </a:spcAft>
              <a:defRPr sz="2200" b="1">
                <a:solidFill>
                  <a:srgbClr val="FFB703"/>
                </a:solidFill>
                <a:latin typeface="Segoe UI"/>
              </a:defRPr>
            </a:pPr>
            <a:r>
              <a:t>Questions &amp; Answers</a:t>
            </a:r>
          </a:p>
          <a:p>
            <a:pPr algn="ctr">
              <a:spcAft>
                <a:spcPts val="600"/>
              </a:spcAft>
              <a:defRPr sz="1350">
                <a:solidFill>
                  <a:srgbClr val="FFFFFF"/>
                </a:solidFill>
                <a:latin typeface="Segoe UI"/>
              </a:defRPr>
            </a:pPr>
            <a:r>
              <a:t>Thank you for your time!</a:t>
            </a:r>
          </a:p>
          <a:p>
            <a:pPr algn="ctr">
              <a:spcAft>
                <a:spcPts val="600"/>
              </a:spcAft>
              <a:defRPr sz="1350">
                <a:solidFill>
                  <a:srgbClr val="FFFFFF"/>
                </a:solidFill>
                <a:latin typeface="Segoe UI"/>
              </a:defRPr>
            </a:pPr>
          </a:p>
          <a:p>
            <a:pPr algn="ctr">
              <a:spcAft>
                <a:spcPts val="600"/>
              </a:spcAft>
              <a:defRPr sz="1350">
                <a:solidFill>
                  <a:srgbClr val="FFFFFF"/>
                </a:solidFill>
                <a:latin typeface="Segoe UI"/>
              </a:defRPr>
            </a:pPr>
            <a:r>
              <a:t>Any questions?</a:t>
            </a:r>
          </a:p>
          <a:p>
            <a:pPr algn="ctr">
              <a:spcAft>
                <a:spcPts val="600"/>
              </a:spcAft>
              <a:defRPr sz="1350">
                <a:solidFill>
                  <a:srgbClr val="FFFFFF"/>
                </a:solidFill>
                <a:latin typeface="Segoe UI"/>
              </a:defRPr>
            </a:pPr>
          </a:p>
          <a:p>
            <a:pPr algn="ctr">
              <a:spcAft>
                <a:spcPts val="600"/>
              </a:spcAft>
              <a:defRPr sz="1350">
                <a:solidFill>
                  <a:srgbClr val="FFFFFF"/>
                </a:solidFill>
                <a:latin typeface="Segoe UI"/>
              </a:defRPr>
            </a:pPr>
            <a:r>
              <a:t>AI-Powered QA Studio</a:t>
            </a:r>
          </a:p>
          <a:p>
            <a:pPr algn="ctr">
              <a:spcAft>
                <a:spcPts val="600"/>
              </a:spcAft>
              <a:defRPr sz="1350">
                <a:solidFill>
                  <a:srgbClr val="FFFFFF"/>
                </a:solidFill>
                <a:latin typeface="Segoe UI"/>
              </a:defRPr>
            </a:pPr>
            <a:r>
              <a:t>•  Enterprise QA Automation Engine</a:t>
            </a:r>
          </a:p>
          <a:p>
            <a:pPr algn="ctr">
              <a:spcAft>
                <a:spcPts val="600"/>
              </a:spcAft>
              <a:defRPr sz="1350">
                <a:solidFill>
                  <a:srgbClr val="FFFFFF"/>
                </a:solidFill>
                <a:latin typeface="Segoe UI"/>
              </a:defRPr>
            </a:pPr>
            <a:r>
              <a:t>•  Active Sprint Accelerator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